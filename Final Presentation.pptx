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IBM Plex Sans"/>
      <p:regular r:id="rId35"/>
      <p:bold r:id="rId36"/>
      <p:italic r:id="rId37"/>
      <p:boldItalic r:id="rId38"/>
    </p:embeddedFont>
    <p:embeddedFont>
      <p:font typeface="Robot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20" Type="http://schemas.openxmlformats.org/officeDocument/2006/relationships/slide" Target="slides/slide15.xml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IBMPlexSans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IBMPlexSans-italic.fntdata"/><Relationship Id="rId14" Type="http://schemas.openxmlformats.org/officeDocument/2006/relationships/slide" Target="slides/slide9.xml"/><Relationship Id="rId36" Type="http://schemas.openxmlformats.org/officeDocument/2006/relationships/font" Target="fonts/IBMPlexSans-bold.fntdata"/><Relationship Id="rId17" Type="http://schemas.openxmlformats.org/officeDocument/2006/relationships/slide" Target="slides/slide12.xml"/><Relationship Id="rId39" Type="http://schemas.openxmlformats.org/officeDocument/2006/relationships/font" Target="fonts/Roboto-regular.fntdata"/><Relationship Id="rId16" Type="http://schemas.openxmlformats.org/officeDocument/2006/relationships/slide" Target="slides/slide11.xml"/><Relationship Id="rId38" Type="http://schemas.openxmlformats.org/officeDocument/2006/relationships/font" Target="fonts/IBMPlexSa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f22f54a1e_3_196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f22f54a1e_3_1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f22f54a1e_3_3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f22f54a1e_3_3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f22f54a1e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f22f54a1e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f22f54a1e_3_1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f22f54a1e_3_1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f22f54a1e_3_3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f22f54a1e_3_3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f22f54a1e_3_3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f22f54a1e_3_3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f22f54a1e_3_2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f22f54a1e_3_2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f22f54a1e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f22f54a1e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f22f54a1e_3_3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f22f54a1e_3_3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f22f54a1e_3_3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f22f54a1e_3_3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f22f54a1e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f22f54a1e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f22f54a1e_0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f22f54a1e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f22f54a1e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f22f54a1e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f22f54a1e_3_3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f22f54a1e_3_3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f22f54a1e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f22f54a1e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f22f54a1e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f22f54a1e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f22f54a1e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f22f54a1e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f22f54a1e_3_3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f22f54a1e_3_3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f22f54a1e_0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af22f54a1e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f22f54a1e_3_3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f22f54a1e_3_3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f22f54a1e_3_3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f22f54a1e_3_3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f22f54a1e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f22f54a1e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f77b59bb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af77b59bb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f22f54a1e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f22f54a1e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f77b59bb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f77b59bb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f77b59bb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af77b59bb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f22f54a1e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af22f54a1e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f77b59bb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af77b59bb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255175" y="589725"/>
            <a:ext cx="9457800" cy="170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80"/>
              <a:t>Predicting Diabetes &amp; Hospital Readmission: </a:t>
            </a:r>
            <a:endParaRPr sz="338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80"/>
              <a:t>A Two-Dataset Clinical Analysis</a:t>
            </a:r>
            <a:endParaRPr sz="3380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52325" y="2990709"/>
            <a:ext cx="8222100" cy="12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725"/>
              <a:t>5100 Foundations of Data Science </a:t>
            </a:r>
            <a:r>
              <a:rPr lang="en" sz="1725"/>
              <a:t>Group 8</a:t>
            </a:r>
            <a:endParaRPr sz="17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7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725"/>
              <a:t>By: Badamgarav Battushig, Naomi Le Mouel, Gurpreet Kaur</a:t>
            </a:r>
            <a:endParaRPr sz="172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2701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72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 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4323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93" name="Google Shape;93;p14"/>
          <p:cNvSpPr txBox="1"/>
          <p:nvPr>
            <p:ph idx="4294967295" type="body"/>
          </p:nvPr>
        </p:nvSpPr>
        <p:spPr>
          <a:xfrm>
            <a:off x="265375" y="1943850"/>
            <a:ext cx="2760600" cy="12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Background &amp; Motivation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Problem Statement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Overview of Modeling Goals</a:t>
            </a:r>
            <a:endParaRPr sz="1400"/>
          </a:p>
        </p:txBody>
      </p:sp>
      <p:sp>
        <p:nvSpPr>
          <p:cNvPr id="94" name="Google Shape;94;p14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95" name="Google Shape;95;p14"/>
          <p:cNvSpPr txBox="1"/>
          <p:nvPr>
            <p:ph idx="4294967295" type="body"/>
          </p:nvPr>
        </p:nvSpPr>
        <p:spPr>
          <a:xfrm>
            <a:off x="3270525" y="1304874"/>
            <a:ext cx="2309100" cy="6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Data &amp; Preparation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96" name="Google Shape;96;p14"/>
          <p:cNvSpPr txBox="1"/>
          <p:nvPr>
            <p:ph idx="4294967295" type="body"/>
          </p:nvPr>
        </p:nvSpPr>
        <p:spPr>
          <a:xfrm>
            <a:off x="2961138" y="1943838"/>
            <a:ext cx="3221700" cy="12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Dataset Descriptions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Key Variables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Cleaning &amp; Processing Steps</a:t>
            </a:r>
            <a:endParaRPr sz="1400"/>
          </a:p>
          <a:p>
            <a:pPr indent="0" lvl="0" marL="45720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97" name="Google Shape;97;p14"/>
          <p:cNvSpPr/>
          <p:nvPr/>
        </p:nvSpPr>
        <p:spPr>
          <a:xfrm>
            <a:off x="5948502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98" name="Google Shape;98;p14"/>
          <p:cNvSpPr txBox="1"/>
          <p:nvPr>
            <p:ph idx="4294967295" type="body"/>
          </p:nvPr>
        </p:nvSpPr>
        <p:spPr>
          <a:xfrm>
            <a:off x="6001450" y="1977000"/>
            <a:ext cx="28308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Summary Findings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ROC Curve (Model Performance)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Important Predictors</a:t>
            </a:r>
            <a:endParaRPr sz="1400"/>
          </a:p>
        </p:txBody>
      </p:sp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420388" y="3128900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101" name="Google Shape;101;p14"/>
          <p:cNvSpPr txBox="1"/>
          <p:nvPr>
            <p:ph idx="4294967295" type="body"/>
          </p:nvPr>
        </p:nvSpPr>
        <p:spPr>
          <a:xfrm>
            <a:off x="320726" y="3763425"/>
            <a:ext cx="2654700" cy="12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Summary Findings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ROC Curve (Model Performance)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Important Predictors</a:t>
            </a:r>
            <a:endParaRPr sz="1400"/>
          </a:p>
        </p:txBody>
      </p:sp>
      <p:sp>
        <p:nvSpPr>
          <p:cNvPr id="102" name="Google Shape;102;p14"/>
          <p:cNvSpPr/>
          <p:nvPr/>
        </p:nvSpPr>
        <p:spPr>
          <a:xfrm>
            <a:off x="3032814" y="3128900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103" name="Google Shape;103;p14"/>
          <p:cNvSpPr txBox="1"/>
          <p:nvPr>
            <p:ph idx="4294967295" type="body"/>
          </p:nvPr>
        </p:nvSpPr>
        <p:spPr>
          <a:xfrm>
            <a:off x="3258563" y="3128899"/>
            <a:ext cx="2309100" cy="6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Nonlinear Effects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104" name="Google Shape;104;p14"/>
          <p:cNvSpPr txBox="1"/>
          <p:nvPr>
            <p:ph idx="4294967295" type="body"/>
          </p:nvPr>
        </p:nvSpPr>
        <p:spPr>
          <a:xfrm>
            <a:off x="2961150" y="3763425"/>
            <a:ext cx="2987400" cy="12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Nonlinear Modeling Findings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Understanding Nonlinear Trends</a:t>
            </a:r>
            <a:endParaRPr sz="1400"/>
          </a:p>
        </p:txBody>
      </p:sp>
      <p:sp>
        <p:nvSpPr>
          <p:cNvPr id="105" name="Google Shape;105;p14"/>
          <p:cNvSpPr/>
          <p:nvPr/>
        </p:nvSpPr>
        <p:spPr>
          <a:xfrm>
            <a:off x="5936539" y="3128900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106" name="Google Shape;106;p14"/>
          <p:cNvSpPr txBox="1"/>
          <p:nvPr>
            <p:ph idx="4294967295" type="body"/>
          </p:nvPr>
        </p:nvSpPr>
        <p:spPr>
          <a:xfrm>
            <a:off x="6001438" y="3796563"/>
            <a:ext cx="26547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400"/>
              <a:t>Cross-Dataset Comparison</a:t>
            </a:r>
            <a:endParaRPr sz="1400"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400"/>
              <a:t>Key Takeaways</a:t>
            </a:r>
            <a:endParaRPr sz="1400"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400"/>
              <a:t>Limitations</a:t>
            </a:r>
            <a:endParaRPr sz="1400"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400"/>
              <a:t>Future Directions</a:t>
            </a:r>
            <a:endParaRPr sz="1400"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400"/>
              <a:t>Conclusion</a:t>
            </a:r>
            <a:endParaRPr sz="1400"/>
          </a:p>
        </p:txBody>
      </p:sp>
      <p:sp>
        <p:nvSpPr>
          <p:cNvPr id="107" name="Google Shape;107;p14"/>
          <p:cNvSpPr txBox="1"/>
          <p:nvPr>
            <p:ph idx="4294967295" type="body"/>
          </p:nvPr>
        </p:nvSpPr>
        <p:spPr>
          <a:xfrm>
            <a:off x="413975" y="1304874"/>
            <a:ext cx="2309100" cy="6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Introduction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108" name="Google Shape;108;p14"/>
          <p:cNvSpPr txBox="1"/>
          <p:nvPr>
            <p:ph idx="4294967295" type="body"/>
          </p:nvPr>
        </p:nvSpPr>
        <p:spPr>
          <a:xfrm>
            <a:off x="6089175" y="1304874"/>
            <a:ext cx="2309100" cy="6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Diabetes Analysis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109" name="Google Shape;109;p14"/>
          <p:cNvSpPr txBox="1"/>
          <p:nvPr>
            <p:ph idx="4294967295" type="body"/>
          </p:nvPr>
        </p:nvSpPr>
        <p:spPr>
          <a:xfrm>
            <a:off x="402025" y="3128899"/>
            <a:ext cx="2309100" cy="6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Readmission Analysis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110" name="Google Shape;110;p14"/>
          <p:cNvSpPr txBox="1"/>
          <p:nvPr>
            <p:ph idx="4294967295" type="body"/>
          </p:nvPr>
        </p:nvSpPr>
        <p:spPr>
          <a:xfrm>
            <a:off x="6089175" y="3128899"/>
            <a:ext cx="2309100" cy="6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Discussion &amp; Conclusion</a:t>
            </a:r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>
            <p:ph type="title"/>
          </p:nvPr>
        </p:nvSpPr>
        <p:spPr>
          <a:xfrm>
            <a:off x="282550" y="0"/>
            <a:ext cx="4045200" cy="305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16" name="Google Shape;116;p15"/>
          <p:cNvSpPr txBox="1"/>
          <p:nvPr>
            <p:ph idx="2" type="body"/>
          </p:nvPr>
        </p:nvSpPr>
        <p:spPr>
          <a:xfrm>
            <a:off x="4710050" y="641375"/>
            <a:ext cx="4376100" cy="42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lang="en" sz="1595"/>
              <a:t>Background &amp; Motivation</a:t>
            </a:r>
            <a:endParaRPr sz="1595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lang="en" sz="1595"/>
              <a:t>Problem Statement</a:t>
            </a:r>
            <a:endParaRPr sz="1595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lang="en" sz="1595"/>
              <a:t>Purpose of the Analysis</a:t>
            </a:r>
            <a:endParaRPr sz="1595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lang="en" sz="1595"/>
              <a:t>Overview of Modeling Goals</a:t>
            </a:r>
            <a:endParaRPr sz="159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59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4294967295"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&amp; Motivation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 txBox="1"/>
          <p:nvPr>
            <p:ph idx="4294967295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Diabetes is common and can be identified early using clear clinical markers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Hospital readmission is an important quality metric but difficult to predict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two contrasting datasets helps explore why some outcomes are highly predictable and others are not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Dual-dataset design aligns with current research and supports transparent, reproducible 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17"/>
          <p:cNvGrpSpPr/>
          <p:nvPr/>
        </p:nvGrpSpPr>
        <p:grpSpPr>
          <a:xfrm>
            <a:off x="5632317" y="1189775"/>
            <a:ext cx="3305700" cy="3483050"/>
            <a:chOff x="5632317" y="1189775"/>
            <a:chExt cx="3305700" cy="3483050"/>
          </a:xfrm>
        </p:grpSpPr>
        <p:sp>
          <p:nvSpPr>
            <p:cNvPr id="128" name="Google Shape;128;p17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A4C2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Question</a:t>
              </a: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3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6167077" y="2057125"/>
              <a:ext cx="25599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42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Are there shared risk factors across these two outcomes?</a:t>
              </a:r>
              <a:endParaRPr sz="1842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0" name="Google Shape;130;p17"/>
          <p:cNvGrpSpPr/>
          <p:nvPr/>
        </p:nvGrpSpPr>
        <p:grpSpPr>
          <a:xfrm>
            <a:off x="0" y="1189989"/>
            <a:ext cx="3546900" cy="3482836"/>
            <a:chOff x="0" y="1189989"/>
            <a:chExt cx="3546900" cy="3482836"/>
          </a:xfrm>
        </p:grpSpPr>
        <p:sp>
          <p:nvSpPr>
            <p:cNvPr id="131" name="Google Shape;131;p17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fmla="val 50000" name="adj"/>
              </a:avLst>
            </a:prstGeom>
            <a:solidFill>
              <a:srgbClr val="1155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Question </a:t>
              </a: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" name="Google Shape;132;p17"/>
            <p:cNvSpPr txBox="1"/>
            <p:nvPr/>
          </p:nvSpPr>
          <p:spPr>
            <a:xfrm>
              <a:off x="148050" y="2057125"/>
              <a:ext cx="29607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42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Which clinical and demographic variables best predict diabetes?</a:t>
              </a:r>
              <a:endParaRPr sz="1842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3" name="Google Shape;133;p17"/>
          <p:cNvGrpSpPr/>
          <p:nvPr/>
        </p:nvGrpSpPr>
        <p:grpSpPr>
          <a:xfrm>
            <a:off x="2944204" y="1189775"/>
            <a:ext cx="3305700" cy="3456675"/>
            <a:chOff x="2944204" y="1189775"/>
            <a:chExt cx="3305700" cy="3456675"/>
          </a:xfrm>
        </p:grpSpPr>
        <p:sp>
          <p:nvSpPr>
            <p:cNvPr id="134" name="Google Shape;134;p17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Question </a:t>
              </a: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3270600" y="2030750"/>
              <a:ext cx="28614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42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What factors predict 30-day hospital readmission for diabetic patients?</a:t>
              </a:r>
              <a:endParaRPr sz="1842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6" name="Google Shape;136;p17"/>
          <p:cNvSpPr txBox="1"/>
          <p:nvPr>
            <p:ph idx="4294967295" type="title"/>
          </p:nvPr>
        </p:nvSpPr>
        <p:spPr>
          <a:xfrm>
            <a:off x="0" y="297650"/>
            <a:ext cx="9144000" cy="695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10101"/>
                </a:solidFill>
              </a:rPr>
              <a:t>  </a:t>
            </a:r>
            <a:r>
              <a:rPr lang="en"/>
              <a:t>   Research Question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1010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idx="4294967295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predictive models for two related but distinct outcomes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Compare model behavior across clinical vs. hospital datasets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key predictors that drive each outcome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 txBox="1"/>
          <p:nvPr>
            <p:ph idx="4294967295" type="title"/>
          </p:nvPr>
        </p:nvSpPr>
        <p:spPr>
          <a:xfrm>
            <a:off x="0" y="0"/>
            <a:ext cx="9144000" cy="695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   </a:t>
            </a:r>
            <a:r>
              <a:rPr lang="en">
                <a:solidFill>
                  <a:schemeClr val="lt1"/>
                </a:solidFill>
              </a:rPr>
              <a:t>Overview of Modeling Goals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title"/>
          </p:nvPr>
        </p:nvSpPr>
        <p:spPr>
          <a:xfrm>
            <a:off x="265525" y="641375"/>
            <a:ext cx="4045200" cy="305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Overview &amp;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Preparation</a:t>
            </a:r>
            <a:endParaRPr/>
          </a:p>
        </p:txBody>
      </p:sp>
      <p:sp>
        <p:nvSpPr>
          <p:cNvPr id="148" name="Google Shape;148;p19"/>
          <p:cNvSpPr txBox="1"/>
          <p:nvPr>
            <p:ph idx="2" type="body"/>
          </p:nvPr>
        </p:nvSpPr>
        <p:spPr>
          <a:xfrm>
            <a:off x="4710050" y="641375"/>
            <a:ext cx="4376100" cy="42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lang="en" sz="1595"/>
              <a:t>Dataset Descriptions</a:t>
            </a:r>
            <a:endParaRPr sz="1595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lang="en" sz="1595"/>
              <a:t>Key Variables</a:t>
            </a:r>
            <a:endParaRPr sz="1595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lang="en" sz="1595"/>
              <a:t>Cleaning &amp; Processing Steps</a:t>
            </a:r>
            <a:endParaRPr sz="159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59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59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idx="4294967295"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Overview</a:t>
            </a:r>
            <a:endParaRPr/>
          </a:p>
        </p:txBody>
      </p:sp>
      <p:sp>
        <p:nvSpPr>
          <p:cNvPr id="154" name="Google Shape;154;p20"/>
          <p:cNvSpPr txBox="1"/>
          <p:nvPr>
            <p:ph idx="4294967295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1: Kaggle — 100,000 Diabetes Clinical Dataset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100k patients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16 variables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Target: diabetes (binary)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Dataset 2: UCI — Diabetes 130-US Hospitals (1999–2008)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101,766 encounters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47 variables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Target: 30-day readmission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Variables</a:t>
            </a:r>
            <a:endParaRPr/>
          </a:p>
        </p:txBody>
      </p:sp>
      <p:sp>
        <p:nvSpPr>
          <p:cNvPr id="160" name="Google Shape;160;p21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155CC"/>
                </a:solidFill>
              </a:rPr>
              <a:t>Kaggle Diabetes Dataset (100,000 patients)</a:t>
            </a:r>
            <a:endParaRPr b="1" sz="1300">
              <a:solidFill>
                <a:srgbClr val="1155CC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1155CC"/>
                </a:solidFill>
              </a:rPr>
              <a:t>HbA1c level</a:t>
            </a:r>
            <a:r>
              <a:rPr lang="en" sz="1300">
                <a:solidFill>
                  <a:srgbClr val="000000"/>
                </a:solidFill>
              </a:rPr>
              <a:t> - long-term blood sugar indicator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1155CC"/>
                </a:solidFill>
              </a:rPr>
              <a:t>Blood glucose level</a:t>
            </a:r>
            <a:r>
              <a:rPr lang="en" sz="1300">
                <a:solidFill>
                  <a:srgbClr val="000000"/>
                </a:solidFill>
              </a:rPr>
              <a:t> - current glucose measurement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1155CC"/>
                </a:solidFill>
              </a:rPr>
              <a:t>BMI</a:t>
            </a:r>
            <a:r>
              <a:rPr lang="en" sz="1300">
                <a:solidFill>
                  <a:srgbClr val="000000"/>
                </a:solidFill>
              </a:rPr>
              <a:t> - body mass index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1155CC"/>
                </a:solidFill>
              </a:rPr>
              <a:t>Age</a:t>
            </a:r>
            <a:r>
              <a:rPr lang="en" sz="1300">
                <a:solidFill>
                  <a:srgbClr val="000000"/>
                </a:solidFill>
              </a:rPr>
              <a:t> - demographic risk factor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1155CC"/>
                </a:solidFill>
              </a:rPr>
              <a:t>Hypertension</a:t>
            </a:r>
            <a:r>
              <a:rPr lang="en" sz="1300">
                <a:solidFill>
                  <a:srgbClr val="000000"/>
                </a:solidFill>
              </a:rPr>
              <a:t> - comorbidity indicator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1155CC"/>
                </a:solidFill>
              </a:rPr>
              <a:t>Heart disease</a:t>
            </a:r>
            <a:r>
              <a:rPr lang="en" sz="1300">
                <a:solidFill>
                  <a:srgbClr val="1155CC"/>
                </a:solidFill>
              </a:rPr>
              <a:t> </a:t>
            </a:r>
            <a:r>
              <a:rPr lang="en" sz="1300">
                <a:solidFill>
                  <a:srgbClr val="000000"/>
                </a:solidFill>
              </a:rPr>
              <a:t>- comorbidity indicator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1155CC"/>
                </a:solidFill>
              </a:rPr>
              <a:t>Smoking history</a:t>
            </a:r>
            <a:r>
              <a:rPr lang="en" sz="1300">
                <a:solidFill>
                  <a:srgbClr val="000000"/>
                </a:solidFill>
              </a:rPr>
              <a:t> - lifestyle variable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1155CC"/>
                </a:solidFill>
              </a:rPr>
              <a:t>Diabetes (target)</a:t>
            </a:r>
            <a:r>
              <a:rPr lang="en" sz="1300">
                <a:solidFill>
                  <a:srgbClr val="1155CC"/>
                </a:solidFill>
              </a:rPr>
              <a:t> </a:t>
            </a:r>
            <a:r>
              <a:rPr lang="en" sz="1300">
                <a:solidFill>
                  <a:srgbClr val="000000"/>
                </a:solidFill>
              </a:rPr>
              <a:t>- binary outcome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1" name="Google Shape;161;p21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155CC"/>
                </a:solidFill>
              </a:rPr>
              <a:t>UCI Readmission Dataset (101,766 encounters)</a:t>
            </a:r>
            <a:endParaRPr b="1" sz="1300">
              <a:solidFill>
                <a:srgbClr val="1155CC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1155CC"/>
                </a:solidFill>
              </a:rPr>
              <a:t>Number of medications</a:t>
            </a:r>
            <a:r>
              <a:rPr lang="en" sz="1300">
                <a:solidFill>
                  <a:srgbClr val="000000"/>
                </a:solidFill>
              </a:rPr>
              <a:t> - treatment intensity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1155CC"/>
                </a:solidFill>
              </a:rPr>
              <a:t>Time in hospital</a:t>
            </a:r>
            <a:r>
              <a:rPr lang="en" sz="1300">
                <a:solidFill>
                  <a:srgbClr val="1155CC"/>
                </a:solidFill>
              </a:rPr>
              <a:t> </a:t>
            </a:r>
            <a:r>
              <a:rPr lang="en" sz="1300">
                <a:solidFill>
                  <a:srgbClr val="000000"/>
                </a:solidFill>
              </a:rPr>
              <a:t>- hospitalization duration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1155CC"/>
                </a:solidFill>
              </a:rPr>
              <a:t>Number of diagnoses</a:t>
            </a:r>
            <a:r>
              <a:rPr lang="en" sz="1300">
                <a:solidFill>
                  <a:srgbClr val="1155CC"/>
                </a:solidFill>
              </a:rPr>
              <a:t> </a:t>
            </a:r>
            <a:r>
              <a:rPr lang="en" sz="1300">
                <a:solidFill>
                  <a:srgbClr val="000000"/>
                </a:solidFill>
              </a:rPr>
              <a:t>- patient complexity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1155CC"/>
                </a:solidFill>
              </a:rPr>
              <a:t>Prior inpatient visits</a:t>
            </a:r>
            <a:r>
              <a:rPr lang="en" sz="1300">
                <a:solidFill>
                  <a:srgbClr val="000000"/>
                </a:solidFill>
              </a:rPr>
              <a:t> - historical utilization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1155CC"/>
                </a:solidFill>
              </a:rPr>
              <a:t>Outpatient &amp; emergency visits</a:t>
            </a:r>
            <a:r>
              <a:rPr lang="en" sz="1300">
                <a:solidFill>
                  <a:srgbClr val="1155CC"/>
                </a:solidFill>
              </a:rPr>
              <a:t> </a:t>
            </a:r>
            <a:r>
              <a:rPr lang="en" sz="1300">
                <a:solidFill>
                  <a:srgbClr val="000000"/>
                </a:solidFill>
              </a:rPr>
              <a:t>- recent healthcare usage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1155CC"/>
                </a:solidFill>
              </a:rPr>
              <a:t>Readmitted (target)</a:t>
            </a:r>
            <a:r>
              <a:rPr lang="en" sz="1300">
                <a:solidFill>
                  <a:srgbClr val="000000"/>
                </a:solidFill>
              </a:rPr>
              <a:t> - &lt;30 days, &gt;30 days, or no readmission</a:t>
            </a:r>
            <a:br>
              <a:rPr lang="en" sz="1300">
                <a:solidFill>
                  <a:srgbClr val="000000"/>
                </a:solidFill>
              </a:rPr>
            </a:b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>
            <p:ph idx="4294967295" type="title"/>
          </p:nvPr>
        </p:nvSpPr>
        <p:spPr>
          <a:xfrm>
            <a:off x="0" y="0"/>
            <a:ext cx="9144000" cy="5931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Data Cleaning &amp; Preparation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7" name="Google Shape;167;p22"/>
          <p:cNvSpPr txBox="1"/>
          <p:nvPr>
            <p:ph idx="4294967295" type="body"/>
          </p:nvPr>
        </p:nvSpPr>
        <p:spPr>
          <a:xfrm>
            <a:off x="222425" y="9022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Checked and handled missing values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Removed rows with invalid or missing target outcomes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Encoded categorical variables (one-hot)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Standardized numeric features for modeling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Excluded categorical variables from correlation analysis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Added nonlinear features (polynomials, interactions)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265525" y="909250"/>
            <a:ext cx="40452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Diabetes Analysis</a:t>
            </a:r>
            <a:endParaRPr/>
          </a:p>
        </p:txBody>
      </p:sp>
      <p:sp>
        <p:nvSpPr>
          <p:cNvPr id="173" name="Google Shape;173;p23"/>
          <p:cNvSpPr txBox="1"/>
          <p:nvPr>
            <p:ph idx="2" type="body"/>
          </p:nvPr>
        </p:nvSpPr>
        <p:spPr>
          <a:xfrm>
            <a:off x="4710050" y="641375"/>
            <a:ext cx="4376100" cy="42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lang="en" sz="1595"/>
              <a:t>Summary Findings</a:t>
            </a:r>
            <a:endParaRPr sz="1595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lang="en" sz="1595"/>
              <a:t>ROC Curve (Model Performance)</a:t>
            </a:r>
            <a:endParaRPr sz="1595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lang="en" sz="1595"/>
              <a:t>Important Predictors</a:t>
            </a:r>
            <a:endParaRPr sz="159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595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idx="4294967295"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Diabetes Dataset: Key Findings</a:t>
            </a:r>
            <a:endParaRPr/>
          </a:p>
        </p:txBody>
      </p:sp>
      <p:sp>
        <p:nvSpPr>
          <p:cNvPr id="179" name="Google Shape;179;p24"/>
          <p:cNvSpPr txBox="1"/>
          <p:nvPr>
            <p:ph idx="4294967295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HbA1c &amp; Glucose strongly separate diabetic vs non-diabetic groups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BMI and Age show increasing risk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Comorbidities: hypertension &amp; heart disease more common in diabetic patients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Demographics show weak association with diabetes status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>
            <p:ph idx="4294967295" type="title"/>
          </p:nvPr>
        </p:nvSpPr>
        <p:spPr>
          <a:xfrm>
            <a:off x="159025" y="1868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Diabetes Model Performance (ROC)</a:t>
            </a:r>
            <a:endParaRPr/>
          </a:p>
        </p:txBody>
      </p:sp>
      <p:sp>
        <p:nvSpPr>
          <p:cNvPr id="185" name="Google Shape;185;p25"/>
          <p:cNvSpPr txBox="1"/>
          <p:nvPr>
            <p:ph idx="4294967295" type="body"/>
          </p:nvPr>
        </p:nvSpPr>
        <p:spPr>
          <a:xfrm>
            <a:off x="4572000" y="1053750"/>
            <a:ext cx="45078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Logistic Regression AUC ≈ 0.96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 Forest AUC also very high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models show strong discriminative ability</a:t>
            </a:r>
            <a:endParaRPr/>
          </a:p>
        </p:txBody>
      </p:sp>
      <p:pic>
        <p:nvPicPr>
          <p:cNvPr id="186" name="Google Shape;18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300" y="794675"/>
            <a:ext cx="4267200" cy="400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>
            <p:ph idx="4294967295" type="title"/>
          </p:nvPr>
        </p:nvSpPr>
        <p:spPr>
          <a:xfrm>
            <a:off x="140900" y="190675"/>
            <a:ext cx="6577800" cy="10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Diabetes: Important Predictors</a:t>
            </a:r>
            <a:endParaRPr/>
          </a:p>
        </p:txBody>
      </p:sp>
      <p:sp>
        <p:nvSpPr>
          <p:cNvPr id="192" name="Google Shape;192;p26"/>
          <p:cNvSpPr txBox="1"/>
          <p:nvPr>
            <p:ph idx="4294967295" type="body"/>
          </p:nvPr>
        </p:nvSpPr>
        <p:spPr>
          <a:xfrm>
            <a:off x="342200" y="1229875"/>
            <a:ext cx="3354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predictors: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HbA1c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Blood glucose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BMI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Hypertension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Heart disease</a:t>
            </a:r>
            <a:endParaRPr/>
          </a:p>
        </p:txBody>
      </p:sp>
      <p:pic>
        <p:nvPicPr>
          <p:cNvPr id="193" name="Google Shape;19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5025" y="664800"/>
            <a:ext cx="4807750" cy="447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type="title"/>
          </p:nvPr>
        </p:nvSpPr>
        <p:spPr>
          <a:xfrm>
            <a:off x="310175" y="939025"/>
            <a:ext cx="40452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Readmission Analysis</a:t>
            </a:r>
            <a:endParaRPr/>
          </a:p>
        </p:txBody>
      </p:sp>
      <p:sp>
        <p:nvSpPr>
          <p:cNvPr id="199" name="Google Shape;199;p27"/>
          <p:cNvSpPr txBox="1"/>
          <p:nvPr>
            <p:ph idx="2" type="body"/>
          </p:nvPr>
        </p:nvSpPr>
        <p:spPr>
          <a:xfrm>
            <a:off x="4710050" y="641375"/>
            <a:ext cx="4376100" cy="42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lang="en" sz="1595"/>
              <a:t>Summary Findings</a:t>
            </a:r>
            <a:endParaRPr sz="1595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lang="en" sz="1595"/>
              <a:t>ROC Curve (Model Performance)</a:t>
            </a:r>
            <a:endParaRPr sz="1595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lang="en" sz="1595"/>
              <a:t>Important Predictors</a:t>
            </a:r>
            <a:endParaRPr sz="159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595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idx="4294967295"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Readmission Dataset: Key Findings</a:t>
            </a:r>
            <a:endParaRPr/>
          </a:p>
        </p:txBody>
      </p:sp>
      <p:sp>
        <p:nvSpPr>
          <p:cNvPr id="205" name="Google Shape;205;p28"/>
          <p:cNvSpPr txBox="1"/>
          <p:nvPr>
            <p:ph idx="4294967295" type="body"/>
          </p:nvPr>
        </p:nvSpPr>
        <p:spPr>
          <a:xfrm>
            <a:off x="623400" y="15721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Distribution of readmission labels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categorical hospital features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Indicators of patient complexity (diagnoses, meds, inpatient visits)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>
            <p:ph idx="4294967295" type="title"/>
          </p:nvPr>
        </p:nvSpPr>
        <p:spPr>
          <a:xfrm>
            <a:off x="217750" y="1140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Readmission Model Performance (ROC)</a:t>
            </a:r>
            <a:endParaRPr/>
          </a:p>
        </p:txBody>
      </p:sp>
      <p:sp>
        <p:nvSpPr>
          <p:cNvPr id="211" name="Google Shape;211;p29"/>
          <p:cNvSpPr txBox="1"/>
          <p:nvPr>
            <p:ph idx="4294967295" type="body"/>
          </p:nvPr>
        </p:nvSpPr>
        <p:spPr>
          <a:xfrm>
            <a:off x="4875750" y="1019700"/>
            <a:ext cx="43323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Logistic Regression AUC ≈ 0.63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Much lower than diabetes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Close to random guessing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50" y="768874"/>
            <a:ext cx="4600575" cy="415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0"/>
          <p:cNvSpPr txBox="1"/>
          <p:nvPr>
            <p:ph idx="4294967295" type="title"/>
          </p:nvPr>
        </p:nvSpPr>
        <p:spPr>
          <a:xfrm>
            <a:off x="154250" y="1825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Readmission: Important Predictors</a:t>
            </a:r>
            <a:endParaRPr/>
          </a:p>
        </p:txBody>
      </p:sp>
      <p:sp>
        <p:nvSpPr>
          <p:cNvPr id="218" name="Google Shape;218;p30"/>
          <p:cNvSpPr txBox="1"/>
          <p:nvPr>
            <p:ph idx="4294967295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495"/>
              <a:t>Top predictors:</a:t>
            </a:r>
            <a:endParaRPr sz="1495"/>
          </a:p>
          <a:p>
            <a:pPr indent="-28908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52"/>
              <a:buFont typeface="Arial"/>
              <a:buChar char="●"/>
            </a:pPr>
            <a:r>
              <a:rPr lang="en" sz="1495"/>
              <a:t>Number of medications</a:t>
            </a:r>
            <a:br>
              <a:rPr lang="en" sz="1495"/>
            </a:br>
            <a:endParaRPr sz="1495"/>
          </a:p>
          <a:p>
            <a:pPr indent="-2890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2"/>
              <a:buFont typeface="Arial"/>
              <a:buChar char="●"/>
            </a:pPr>
            <a:r>
              <a:rPr lang="en" sz="1495"/>
              <a:t>Time in hospital</a:t>
            </a:r>
            <a:br>
              <a:rPr lang="en" sz="1495"/>
            </a:br>
            <a:endParaRPr sz="1495"/>
          </a:p>
          <a:p>
            <a:pPr indent="-2890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2"/>
              <a:buFont typeface="Arial"/>
              <a:buChar char="●"/>
            </a:pPr>
            <a:r>
              <a:rPr lang="en" sz="1495"/>
              <a:t>Prior inpatient visits</a:t>
            </a:r>
            <a:br>
              <a:rPr lang="en" sz="1495"/>
            </a:br>
            <a:endParaRPr sz="1495"/>
          </a:p>
          <a:p>
            <a:pPr indent="-2890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2"/>
              <a:buFont typeface="Arial"/>
              <a:buChar char="●"/>
            </a:pPr>
            <a:r>
              <a:rPr lang="en" sz="1495"/>
              <a:t>Number of diagnoses</a:t>
            </a:r>
            <a:br>
              <a:rPr lang="en" sz="1495"/>
            </a:br>
            <a:endParaRPr sz="14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495"/>
              <a:t>Smaller influence:</a:t>
            </a:r>
            <a:endParaRPr sz="1495"/>
          </a:p>
          <a:p>
            <a:pPr indent="-28908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52"/>
              <a:buFont typeface="Arial"/>
              <a:buChar char="●"/>
            </a:pPr>
            <a:r>
              <a:rPr lang="en" sz="1495"/>
              <a:t>Outpatient &amp; emergency visits</a:t>
            </a:r>
            <a:endParaRPr sz="14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495"/>
          </a:p>
        </p:txBody>
      </p:sp>
      <p:pic>
        <p:nvPicPr>
          <p:cNvPr id="219" name="Google Shape;21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5050" y="886900"/>
            <a:ext cx="4937250" cy="402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>
            <p:ph type="title"/>
          </p:nvPr>
        </p:nvSpPr>
        <p:spPr>
          <a:xfrm>
            <a:off x="265525" y="924150"/>
            <a:ext cx="40452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Nonlinear Effects</a:t>
            </a:r>
            <a:endParaRPr/>
          </a:p>
        </p:txBody>
      </p:sp>
      <p:sp>
        <p:nvSpPr>
          <p:cNvPr id="225" name="Google Shape;225;p31"/>
          <p:cNvSpPr txBox="1"/>
          <p:nvPr>
            <p:ph idx="2" type="body"/>
          </p:nvPr>
        </p:nvSpPr>
        <p:spPr>
          <a:xfrm>
            <a:off x="4710050" y="641375"/>
            <a:ext cx="4376100" cy="42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lang="en" sz="1595"/>
              <a:t>Nonlinear Modeling Findings</a:t>
            </a:r>
            <a:endParaRPr sz="1595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lang="en" sz="1595"/>
              <a:t>Understanding Nonlinear Trends</a:t>
            </a:r>
            <a:endParaRPr sz="159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59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595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idx="4294967295"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Nonlinear Modeling Findings</a:t>
            </a:r>
            <a:endParaRPr/>
          </a:p>
        </p:txBody>
      </p:sp>
      <p:sp>
        <p:nvSpPr>
          <p:cNvPr id="231" name="Google Shape;231;p32"/>
          <p:cNvSpPr txBox="1"/>
          <p:nvPr>
            <p:ph idx="4294967295" type="body"/>
          </p:nvPr>
        </p:nvSpPr>
        <p:spPr>
          <a:xfrm>
            <a:off x="311700" y="1229875"/>
            <a:ext cx="80550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4020" lvl="0" marL="457200" rtl="0" algn="l">
              <a:spcBef>
                <a:spcPts val="0"/>
              </a:spcBef>
              <a:spcAft>
                <a:spcPts val="0"/>
              </a:spcAft>
              <a:buSzPts val="1818"/>
              <a:buChar char="●"/>
            </a:pPr>
            <a:r>
              <a:rPr lang="en" sz="1817"/>
              <a:t>Added squared versions of key variables</a:t>
            </a:r>
            <a:br>
              <a:rPr lang="en" sz="1817"/>
            </a:br>
            <a:endParaRPr sz="1817"/>
          </a:p>
          <a:p>
            <a:pPr indent="-344020" lvl="0" marL="457200" rtl="0" algn="l">
              <a:spcBef>
                <a:spcPts val="0"/>
              </a:spcBef>
              <a:spcAft>
                <a:spcPts val="0"/>
              </a:spcAft>
              <a:buSzPts val="1818"/>
              <a:buChar char="●"/>
            </a:pPr>
            <a:r>
              <a:rPr lang="en" sz="1817"/>
              <a:t>Helps model relationships that aren’t straight-line</a:t>
            </a:r>
            <a:br>
              <a:rPr lang="en" sz="1817"/>
            </a:br>
            <a:endParaRPr sz="1817"/>
          </a:p>
          <a:p>
            <a:pPr indent="-344020" lvl="0" marL="457200" rtl="0" algn="l">
              <a:spcBef>
                <a:spcPts val="0"/>
              </a:spcBef>
              <a:spcAft>
                <a:spcPts val="0"/>
              </a:spcAft>
              <a:buSzPts val="1818"/>
              <a:buChar char="●"/>
            </a:pPr>
            <a:r>
              <a:rPr lang="en" sz="1817"/>
              <a:t>HbA1c² and glucose² show meaningful curved effects</a:t>
            </a:r>
            <a:br>
              <a:rPr lang="en" sz="1817"/>
            </a:br>
            <a:endParaRPr sz="1817"/>
          </a:p>
          <a:p>
            <a:pPr indent="-344020" lvl="0" marL="457200" rtl="0" algn="l">
              <a:spcBef>
                <a:spcPts val="0"/>
              </a:spcBef>
              <a:spcAft>
                <a:spcPts val="0"/>
              </a:spcAft>
              <a:buSzPts val="1818"/>
              <a:buChar char="●"/>
            </a:pPr>
            <a:r>
              <a:rPr lang="en" sz="1817"/>
              <a:t>Medication count² and inpatient visits² improve readmission modeling</a:t>
            </a:r>
            <a:br>
              <a:rPr lang="en" sz="1817"/>
            </a:br>
            <a:endParaRPr sz="1817"/>
          </a:p>
          <a:p>
            <a:pPr indent="-344020" lvl="0" marL="457200" rtl="0" algn="l">
              <a:spcBef>
                <a:spcPts val="0"/>
              </a:spcBef>
              <a:spcAft>
                <a:spcPts val="0"/>
              </a:spcAft>
              <a:buSzPts val="1818"/>
              <a:buChar char="●"/>
            </a:pPr>
            <a:r>
              <a:rPr lang="en" sz="1817"/>
              <a:t>Captures accelerating or slowing risk patterns</a:t>
            </a:r>
            <a:endParaRPr sz="1817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>
            <p:ph idx="4294967295"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Nonlinear Trends</a:t>
            </a:r>
            <a:endParaRPr/>
          </a:p>
        </p:txBody>
      </p:sp>
      <p:sp>
        <p:nvSpPr>
          <p:cNvPr id="237" name="Google Shape;237;p33"/>
          <p:cNvSpPr txBox="1"/>
          <p:nvPr>
            <p:ph idx="4294967295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Higher HbA1c values lead to sharper increases in diabetes risk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Glucose levels show a similar rising curve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Readmission predictors show leveling-off effects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Highlights thresholds where risk changes more dramatically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Improves interpretation even when accuracy doesn’t increase much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4"/>
          <p:cNvSpPr txBox="1"/>
          <p:nvPr>
            <p:ph type="title"/>
          </p:nvPr>
        </p:nvSpPr>
        <p:spPr>
          <a:xfrm>
            <a:off x="211000" y="1228650"/>
            <a:ext cx="40452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&amp;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Conclusion</a:t>
            </a:r>
            <a:endParaRPr/>
          </a:p>
        </p:txBody>
      </p:sp>
      <p:sp>
        <p:nvSpPr>
          <p:cNvPr id="243" name="Google Shape;243;p34"/>
          <p:cNvSpPr txBox="1"/>
          <p:nvPr>
            <p:ph idx="2" type="body"/>
          </p:nvPr>
        </p:nvSpPr>
        <p:spPr>
          <a:xfrm>
            <a:off x="4710050" y="641375"/>
            <a:ext cx="4376100" cy="42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lang="en" sz="1595"/>
              <a:t>Cross-Dataset Comparison</a:t>
            </a:r>
            <a:endParaRPr sz="1595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lang="en" sz="1595"/>
              <a:t>Key Takeaways</a:t>
            </a:r>
            <a:endParaRPr sz="1595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lang="en" sz="1595"/>
              <a:t>Limitations</a:t>
            </a:r>
            <a:endParaRPr sz="1595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lang="en" sz="1595"/>
              <a:t>Future Directions</a:t>
            </a:r>
            <a:endParaRPr sz="1595"/>
          </a:p>
          <a:p>
            <a:pPr indent="-329882" lvl="0" marL="457200" rtl="0" algn="l">
              <a:spcBef>
                <a:spcPts val="0"/>
              </a:spcBef>
              <a:spcAft>
                <a:spcPts val="0"/>
              </a:spcAft>
              <a:buSzPts val="1595"/>
              <a:buChar char="●"/>
            </a:pPr>
            <a:r>
              <a:rPr lang="en" sz="1595"/>
              <a:t>Conclusion</a:t>
            </a:r>
            <a:endParaRPr sz="159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595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 txBox="1"/>
          <p:nvPr>
            <p:ph idx="4294967295"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Across Datasets</a:t>
            </a:r>
            <a:endParaRPr/>
          </a:p>
        </p:txBody>
      </p:sp>
      <p:sp>
        <p:nvSpPr>
          <p:cNvPr id="249" name="Google Shape;249;p35"/>
          <p:cNvSpPr txBox="1"/>
          <p:nvPr>
            <p:ph idx="4294967295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Diabetes: strong signals from clinical biomarkers</a:t>
            </a:r>
            <a:br>
              <a:rPr lang="en" sz="1829"/>
            </a:br>
            <a:endParaRPr sz="1829"/>
          </a:p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Readmission: weak predictability due to limited administrative data</a:t>
            </a:r>
            <a:br>
              <a:rPr lang="en" sz="1829"/>
            </a:br>
            <a:endParaRPr sz="1829"/>
          </a:p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Shared pattern: patient complexity increases risk</a:t>
            </a:r>
            <a:br>
              <a:rPr lang="en" sz="1829"/>
            </a:br>
            <a:endParaRPr sz="1829"/>
          </a:p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Modeling difficulty differs because datasets capture different types of information</a:t>
            </a:r>
            <a:endParaRPr sz="1829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6"/>
          <p:cNvSpPr txBox="1"/>
          <p:nvPr>
            <p:ph idx="4294967295" type="title"/>
          </p:nvPr>
        </p:nvSpPr>
        <p:spPr>
          <a:xfrm>
            <a:off x="505175" y="4695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255" name="Google Shape;255;p36"/>
          <p:cNvSpPr txBox="1"/>
          <p:nvPr>
            <p:ph idx="4294967295" type="body"/>
          </p:nvPr>
        </p:nvSpPr>
        <p:spPr>
          <a:xfrm>
            <a:off x="311700" y="152752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 clinical measures can achieve strong diabetes prediction</a:t>
            </a:r>
            <a:br>
              <a:rPr lang="en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Readmission prediction requires richer, more detailed data</a:t>
            </a:r>
            <a:br>
              <a:rPr lang="en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Nonlinear terms help reveal important thresholds in risk</a:t>
            </a:r>
            <a:br>
              <a:rPr lang="en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quality plays a bigger role than model complexity in both tasks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7"/>
          <p:cNvSpPr txBox="1"/>
          <p:nvPr>
            <p:ph idx="4294967295" type="title"/>
          </p:nvPr>
        </p:nvSpPr>
        <p:spPr>
          <a:xfrm>
            <a:off x="237900" y="143575"/>
            <a:ext cx="8171700" cy="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Implications &amp; Limitations</a:t>
            </a:r>
            <a:endParaRPr/>
          </a:p>
        </p:txBody>
      </p:sp>
      <p:sp>
        <p:nvSpPr>
          <p:cNvPr id="261" name="Google Shape;261;p37"/>
          <p:cNvSpPr txBox="1"/>
          <p:nvPr>
            <p:ph idx="4294967295" type="body"/>
          </p:nvPr>
        </p:nvSpPr>
        <p:spPr>
          <a:xfrm>
            <a:off x="486300" y="1013275"/>
            <a:ext cx="7923300" cy="42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895"/>
              <a:t>Implications:</a:t>
            </a:r>
            <a:endParaRPr sz="1895"/>
          </a:p>
          <a:p>
            <a:pPr indent="-348932" lvl="0" marL="457200" rtl="0" algn="l">
              <a:spcBef>
                <a:spcPts val="1200"/>
              </a:spcBef>
              <a:spcAft>
                <a:spcPts val="0"/>
              </a:spcAft>
              <a:buSzPts val="1895"/>
              <a:buChar char="●"/>
            </a:pPr>
            <a:r>
              <a:rPr lang="en" sz="1895"/>
              <a:t>Simple clinical tests support early diabetes detection</a:t>
            </a:r>
            <a:br>
              <a:rPr lang="en" sz="1895"/>
            </a:br>
            <a:endParaRPr sz="1895"/>
          </a:p>
          <a:p>
            <a:pPr indent="-348932" lvl="0" marL="457200" rtl="0" algn="l">
              <a:spcBef>
                <a:spcPts val="0"/>
              </a:spcBef>
              <a:spcAft>
                <a:spcPts val="0"/>
              </a:spcAft>
              <a:buSzPts val="1895"/>
              <a:buChar char="●"/>
            </a:pPr>
            <a:r>
              <a:rPr lang="en" sz="1895"/>
              <a:t>Readmission prediction requires broader patient information</a:t>
            </a:r>
            <a:endParaRPr sz="189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9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895"/>
              <a:t>Limitations:</a:t>
            </a:r>
            <a:endParaRPr sz="1895"/>
          </a:p>
          <a:p>
            <a:pPr indent="-348932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95"/>
              <a:buChar char="●"/>
            </a:pPr>
            <a:r>
              <a:rPr lang="en" sz="1895"/>
              <a:t>Missing social, behavioral, and follow-up care data</a:t>
            </a:r>
            <a:br>
              <a:rPr lang="en" sz="1895"/>
            </a:br>
            <a:endParaRPr sz="1895"/>
          </a:p>
          <a:p>
            <a:pPr indent="-34893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95"/>
              <a:buChar char="●"/>
            </a:pPr>
            <a:r>
              <a:rPr lang="en" sz="1895"/>
              <a:t>No temporal information on patient health</a:t>
            </a:r>
            <a:br>
              <a:rPr lang="en" sz="1895"/>
            </a:br>
            <a:endParaRPr sz="1895"/>
          </a:p>
          <a:p>
            <a:pPr indent="-34893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95"/>
              <a:buChar char="●"/>
            </a:pPr>
            <a:r>
              <a:rPr lang="en" sz="1895"/>
              <a:t>Results limited by available data</a:t>
            </a:r>
            <a:endParaRPr sz="189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69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695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8"/>
          <p:cNvSpPr txBox="1"/>
          <p:nvPr>
            <p:ph idx="4294967295" type="title"/>
          </p:nvPr>
        </p:nvSpPr>
        <p:spPr>
          <a:xfrm>
            <a:off x="787950" y="4546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Directions</a:t>
            </a:r>
            <a:endParaRPr/>
          </a:p>
        </p:txBody>
      </p:sp>
      <p:sp>
        <p:nvSpPr>
          <p:cNvPr id="267" name="Google Shape;267;p38"/>
          <p:cNvSpPr txBox="1"/>
          <p:nvPr>
            <p:ph idx="4294967295" type="body"/>
          </p:nvPr>
        </p:nvSpPr>
        <p:spPr>
          <a:xfrm>
            <a:off x="534950" y="14531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Incorporate richer clinical data (labs, vitals, medications)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social determinants of health (SDOH)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Explore deep learning or ensemble models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Improve readmission prediction with more complete hospital records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9"/>
          <p:cNvSpPr txBox="1"/>
          <p:nvPr>
            <p:ph idx="4294967295" type="title"/>
          </p:nvPr>
        </p:nvSpPr>
        <p:spPr>
          <a:xfrm>
            <a:off x="0" y="0"/>
            <a:ext cx="9144000" cy="695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  Conclusion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3" name="Google Shape;273;p39"/>
          <p:cNvSpPr txBox="1"/>
          <p:nvPr>
            <p:ph idx="4294967295" type="body"/>
          </p:nvPr>
        </p:nvSpPr>
        <p:spPr>
          <a:xfrm>
            <a:off x="311700" y="990600"/>
            <a:ext cx="8520600" cy="35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417">
                <a:solidFill>
                  <a:srgbClr val="1155CC"/>
                </a:solidFill>
              </a:rPr>
              <a:t>1. Which clinical factors predict diabetes?</a:t>
            </a:r>
            <a:endParaRPr b="1" sz="1417">
              <a:solidFill>
                <a:srgbClr val="1155CC"/>
              </a:solidFill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18"/>
              <a:buFont typeface="Arial"/>
              <a:buChar char="●"/>
            </a:pPr>
            <a:r>
              <a:rPr lang="en" sz="1417">
                <a:solidFill>
                  <a:srgbClr val="000000"/>
                </a:solidFill>
              </a:rPr>
              <a:t>Strong predictors: HbA1c, glucose, BMI, age</a:t>
            </a:r>
            <a:br>
              <a:rPr b="1" lang="en" sz="1417">
                <a:solidFill>
                  <a:srgbClr val="000000"/>
                </a:solidFill>
              </a:rPr>
            </a:br>
            <a:endParaRPr b="1" sz="1417">
              <a:solidFill>
                <a:srgbClr val="000000"/>
              </a:solidFill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8"/>
              <a:buFont typeface="Roboto"/>
              <a:buChar char="●"/>
            </a:pPr>
            <a:r>
              <a:rPr lang="en" sz="1417">
                <a:solidFill>
                  <a:srgbClr val="000000"/>
                </a:solidFill>
              </a:rPr>
              <a:t>Hypertension &amp; heart disease add moderate value</a:t>
            </a:r>
            <a:br>
              <a:rPr lang="en" sz="1417">
                <a:solidFill>
                  <a:srgbClr val="000000"/>
                </a:solidFill>
              </a:rPr>
            </a:br>
            <a:endParaRPr sz="1417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417">
                <a:solidFill>
                  <a:srgbClr val="1155CC"/>
                </a:solidFill>
              </a:rPr>
              <a:t>2. What predicts 30-day readmission?</a:t>
            </a:r>
            <a:endParaRPr b="1" sz="1417">
              <a:solidFill>
                <a:srgbClr val="1155CC"/>
              </a:solidFill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18"/>
              <a:buFont typeface="Arial"/>
              <a:buChar char="●"/>
            </a:pPr>
            <a:r>
              <a:rPr lang="en" sz="1417">
                <a:solidFill>
                  <a:srgbClr val="000000"/>
                </a:solidFill>
              </a:rPr>
              <a:t>Best predictors: number of medications, time in hospital, prior inpatient visits</a:t>
            </a:r>
            <a:br>
              <a:rPr lang="en" sz="1417">
                <a:solidFill>
                  <a:srgbClr val="000000"/>
                </a:solidFill>
              </a:rPr>
            </a:br>
            <a:endParaRPr sz="1417">
              <a:solidFill>
                <a:srgbClr val="000000"/>
              </a:solidFill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8"/>
              <a:buFont typeface="Roboto"/>
              <a:buChar char="●"/>
            </a:pPr>
            <a:r>
              <a:rPr lang="en" sz="1417">
                <a:solidFill>
                  <a:srgbClr val="000000"/>
                </a:solidFill>
              </a:rPr>
              <a:t>Overall predictive power is low</a:t>
            </a:r>
            <a:br>
              <a:rPr lang="en" sz="1417">
                <a:solidFill>
                  <a:srgbClr val="000000"/>
                </a:solidFill>
              </a:rPr>
            </a:br>
            <a:endParaRPr sz="1417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417">
                <a:solidFill>
                  <a:srgbClr val="1155CC"/>
                </a:solidFill>
              </a:rPr>
              <a:t>3. Are there shared predictors across both outcomes?</a:t>
            </a:r>
            <a:endParaRPr b="1" sz="1417">
              <a:solidFill>
                <a:srgbClr val="1155CC"/>
              </a:solidFill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18"/>
              <a:buFont typeface="Arial"/>
              <a:buChar char="●"/>
            </a:pPr>
            <a:r>
              <a:rPr lang="en" sz="1417">
                <a:solidFill>
                  <a:srgbClr val="000000"/>
                </a:solidFill>
              </a:rPr>
              <a:t>General trend: the sicker or more complex the patient, the higher the risk</a:t>
            </a:r>
            <a:br>
              <a:rPr b="1" lang="en" sz="1417">
                <a:solidFill>
                  <a:srgbClr val="000000"/>
                </a:solidFill>
              </a:rPr>
            </a:br>
            <a:endParaRPr b="1" sz="1417">
              <a:solidFill>
                <a:srgbClr val="000000"/>
              </a:solidFill>
            </a:endParaRPr>
          </a:p>
          <a:p>
            <a:pPr indent="-3186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8"/>
              <a:buFont typeface="Roboto"/>
              <a:buChar char="●"/>
            </a:pPr>
            <a:r>
              <a:rPr lang="en" sz="1417">
                <a:solidFill>
                  <a:srgbClr val="000000"/>
                </a:solidFill>
              </a:rPr>
              <a:t>No strong overlapping variables due to weak readmission model performance</a:t>
            </a:r>
            <a:br>
              <a:rPr lang="en" sz="1417">
                <a:solidFill>
                  <a:srgbClr val="000000"/>
                </a:solidFill>
              </a:rPr>
            </a:br>
            <a:endParaRPr sz="225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0"/>
          <p:cNvSpPr txBox="1"/>
          <p:nvPr>
            <p:ph idx="4294967295"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10101"/>
                </a:solidFill>
              </a:rPr>
              <a:t>References</a:t>
            </a:r>
            <a:endParaRPr>
              <a:solidFill>
                <a:srgbClr val="010101"/>
              </a:solidFill>
            </a:endParaRPr>
          </a:p>
        </p:txBody>
      </p:sp>
      <p:sp>
        <p:nvSpPr>
          <p:cNvPr id="279" name="Google Shape;279;p40"/>
          <p:cNvSpPr txBox="1"/>
          <p:nvPr>
            <p:ph idx="4294967295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10101"/>
                </a:solidFill>
              </a:rPr>
              <a:t>•	Strack B, DeShazo JP, Gennings C, Olmo J L, Ventura S, Cios K J, Clore J. 2014. Impact of HbA1c measurement on hospital readmission rates: analysis of 70,000 clinical database patient records. BioMed Research International, 2014. VCU Scholars Compass+1</a:t>
            </a:r>
            <a:endParaRPr>
              <a:solidFill>
                <a:srgbClr val="01010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10101"/>
                </a:solidFill>
              </a:rPr>
              <a:t>•	Diabetes 130-US Hospitals for Years 1999-2008. UCI Machine Learning Repository (2014). UCI Machine Learning Repository+1</a:t>
            </a:r>
            <a:endParaRPr>
              <a:solidFill>
                <a:srgbClr val="01010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10101"/>
                </a:solidFill>
              </a:rPr>
              <a:t>•	100,000 Diabetes Clinical Dataset. Kaggle (Choksi, 2023). Baselight+1</a:t>
            </a:r>
            <a:endParaRPr>
              <a:solidFill>
                <a:srgbClr val="01010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10101"/>
                </a:solidFill>
              </a:rPr>
              <a:t>•	Zarghani A. et al. 2024. Comparative Analysis of LSTM Neural Networks and Traditional Machine Learning Models for Predicting Diabetes Patient Readmission. arXiv. arXiv</a:t>
            </a:r>
            <a:endParaRPr>
              <a:solidFill>
                <a:srgbClr val="01010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10101"/>
                </a:solidFill>
              </a:rPr>
              <a:t>•	Sarthak, Shukla &amp; Tripathi (2020). EmbPred30: Assessing 30-days Readmission for Diabetic Patients using Categorical Embeddings. arXiv. arXiv</a:t>
            </a:r>
            <a:endParaRPr>
              <a:solidFill>
                <a:srgbClr val="01010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10101"/>
                </a:solidFill>
              </a:rPr>
              <a:t>•	Hasan M., Yasmin F. 2025. Predicting Diabetes Using Machine Learning: A Comparative Study of Classifiers. arXiv.</a:t>
            </a:r>
            <a:endParaRPr>
              <a:solidFill>
                <a:srgbClr val="01010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1"/>
          <p:cNvSpPr txBox="1"/>
          <p:nvPr>
            <p:ph idx="4294967295" type="title"/>
          </p:nvPr>
        </p:nvSpPr>
        <p:spPr>
          <a:xfrm>
            <a:off x="2702725" y="2039750"/>
            <a:ext cx="4036200" cy="695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lt1"/>
                </a:solidFill>
              </a:rPr>
              <a:t>THANK YOU</a:t>
            </a:r>
            <a:endParaRPr sz="4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